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9AF15-05FF-436A-96C1-5B8DFF4EDC20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C932D-7065-48A2-A4D3-C7F56FC35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3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C932D-7065-48A2-A4D3-C7F56FC35DD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55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E7F24-3594-3578-D4C2-39A99EF87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101E41-1D8D-EA42-78E3-97C2692F3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1142-1F4F-1F9B-F73B-143C4148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4D49-D207-DA09-02DC-A9F4979A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2E772-0067-4BEF-2A74-D1D6EC27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FCA3-BAC7-6842-B7D9-B91F9549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663E-9618-7AE6-41F5-56EFDC6B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2667A-D9E8-65AC-3B52-5444C181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49EE0-9067-6C14-53A4-179E9406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F3818-AD74-F30E-5CE9-16476DBB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89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A24A-C07E-A458-DB87-EF3CE567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71BE6-2156-A15E-5EB3-FD3A1BF0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CD9AC-172C-48C7-C924-E3C351D4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09675-6E26-0AB5-099F-588895E2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1F11D-11B1-AC53-6C25-84228680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75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9F20-FF30-3897-745E-892FF4CD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7DBE2-DAD1-6FD5-843B-46DC032A7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E2DC3-57C7-1986-5024-160403206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77B8D-2FDE-756B-6E11-77BCEF29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F880D-C29E-0D7B-5665-2FB1D61E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FC1B8-A85E-0DA3-F5B0-1B0E2B7B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825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2800-A9CC-FF0C-9B2C-7C6E759B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D79C8-A9FA-D06D-F9DF-62D3F4B36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40821-5D99-0D2B-ED0E-C5D5BAD3E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375B44-E7C4-E283-0699-C87E53FE8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6D2060-86D7-C54B-9BC6-C8EA7F5A2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5948D-076D-39BA-6CD9-2A8B88CE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7D341-FA80-615C-CEAB-0AA9D960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18B3E-C601-8BE9-A9CB-CA80A80B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94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3EEE-F6DC-604C-D7FE-52EAF036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62B18-E16F-7DEC-810B-E6743807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6FB4E-CB20-F138-67F8-AC33D1DD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82328-3117-E182-125D-9992533F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20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C52EA-C516-41CB-F3FE-55CE98B5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27D24-A61B-D4BE-8A70-1D0F790D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76844-BD37-D018-4077-3C89C032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3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4DE4-40D2-81D2-C871-BFBAA6AA4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FA79A-E1E4-04ED-705E-BFB5FB02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4E896-CE25-41C8-D9F1-AA63DAD1F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DA3C-2F30-9AB0-86E1-6642011A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2E1FB-D339-238F-B133-84BD0F83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E11F9-E286-33EB-1F9C-626AEFE4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59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7285-CAA0-021B-8155-7E426164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C62BB-D90E-DEA0-FE2C-C25BE5CE8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6C64B-6A35-DDFB-DA9F-10D32C9E0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60A69-55E5-AB3F-D62D-0F281E63B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9DD9D-DDD5-52A7-3EC9-FC255BB1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2EFB3-C34C-D77C-D578-4D2FD218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93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FED5-CD3A-392C-8A15-309F506DD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0C86E-38EE-1E0E-1235-F5D2B86E4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50DBB-91D9-F7BE-C549-F0469B640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2737E-429A-FB48-EDE7-084994EA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E3D52-820B-F2E0-7036-1463DA5E2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6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5F8C9-15E9-BFFC-B7E0-D0926E204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689C4-9D11-F423-57E7-1FB3F165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42953-FD62-1938-3E1D-3BC48809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443C-F7C1-A26F-484F-3E3D13BFC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9D22-C39A-2BE9-845F-BB3BDF5B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10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C72F8-1EDA-CB05-3B14-74D5DAC5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A4238-2314-85CE-F980-FA20732BF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EDFFB-D4F3-60A0-7841-B369CFEC0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1B2E0-216F-47F9-A95D-229C507CEAE1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3B9C5-8CAC-D8F1-BB4F-90318076E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921C3-095C-9B2A-F94A-89091F017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F3A22-A926-4BAE-A891-1D6319319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67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mp"/><Relationship Id="rId3" Type="http://schemas.openxmlformats.org/officeDocument/2006/relationships/image" Target="../media/image9.tmp"/><Relationship Id="rId7" Type="http://schemas.openxmlformats.org/officeDocument/2006/relationships/image" Target="../media/image13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tmp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tm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1CCB-A6A6-53F6-D6AF-31DC6D862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70192-B9D3-2A3F-47EE-1B4297D03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4BA84-D6FE-6C9F-2F68-8DD8EBF22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BA33C-132D-39F8-BEC4-B3568ACC53ED}"/>
              </a:ext>
            </a:extLst>
          </p:cNvPr>
          <p:cNvSpPr txBox="1"/>
          <p:nvPr/>
        </p:nvSpPr>
        <p:spPr>
          <a:xfrm>
            <a:off x="0" y="2921814"/>
            <a:ext cx="483631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Govind  Shekhawat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30-12-2024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D227D6-6ACF-6B28-49D0-22EC8B2D6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240" y="1663847"/>
            <a:ext cx="7856598" cy="4491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235CE1-2166-DCDB-8B14-028A86A3239E}"/>
              </a:ext>
            </a:extLst>
          </p:cNvPr>
          <p:cNvSpPr txBox="1"/>
          <p:nvPr/>
        </p:nvSpPr>
        <p:spPr>
          <a:xfrm>
            <a:off x="1300163" y="122904"/>
            <a:ext cx="9986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Excel Project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Dataset Analysis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317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B50081-5699-D372-EB58-9BBA0E4BEE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1C4ED1-1B43-88E3-CA5B-93044635B286}"/>
              </a:ext>
            </a:extLst>
          </p:cNvPr>
          <p:cNvSpPr txBox="1"/>
          <p:nvPr/>
        </p:nvSpPr>
        <p:spPr>
          <a:xfrm>
            <a:off x="228600" y="257175"/>
            <a:ext cx="5443538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Objectives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B48FB-AD61-4D78-F888-59B3DE3E65D6}"/>
              </a:ext>
            </a:extLst>
          </p:cNvPr>
          <p:cNvSpPr txBox="1"/>
          <p:nvPr/>
        </p:nvSpPr>
        <p:spPr>
          <a:xfrm>
            <a:off x="228600" y="1351508"/>
            <a:ext cx="1173003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analyze sales data to identify trends, understand sales performance, and provide actionable business insights.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key goals of the analysis are: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trends over time.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products and ship mode.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impact of returns and discounts.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dynamic dashboard with key metrics.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64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2E90C-D959-C92F-179E-F6301D9B9A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A100B-7B47-9377-B1A9-1F1361162175}"/>
              </a:ext>
            </a:extLst>
          </p:cNvPr>
          <p:cNvSpPr txBox="1"/>
          <p:nvPr/>
        </p:nvSpPr>
        <p:spPr>
          <a:xfrm>
            <a:off x="52387" y="0"/>
            <a:ext cx="581025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and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F61CA0-9F38-01DC-95FC-5D85891FB1E3}"/>
              </a:ext>
            </a:extLst>
          </p:cNvPr>
          <p:cNvSpPr txBox="1"/>
          <p:nvPr/>
        </p:nvSpPr>
        <p:spPr>
          <a:xfrm>
            <a:off x="104774" y="766108"/>
            <a:ext cx="115157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a superstore sales dataset containing 9995 rows and 21 columns such as: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Sales , Quantity etc.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steps for cleaning data is given below:-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the duplicates and blank rows.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the missing values and negative values.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outliers and handling them efficiently.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necessary custom and calculated columns.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1F1DA-B76E-3ACB-AED8-B4B97AF29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1900"/>
            <a:ext cx="121920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2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FCD735-6E85-DB6F-3F69-A72414E2EA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C096E-B025-2C3B-91EB-77AAE6573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7051"/>
            <a:ext cx="6096000" cy="4115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6C42A0-9345-AC02-5CD4-B0532D67B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646" y="1557050"/>
            <a:ext cx="5810707" cy="4115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837D8-5E6F-E7B2-3559-41D8CDD22CD0}"/>
              </a:ext>
            </a:extLst>
          </p:cNvPr>
          <p:cNvSpPr txBox="1"/>
          <p:nvPr/>
        </p:nvSpPr>
        <p:spPr>
          <a:xfrm>
            <a:off x="2143126" y="828388"/>
            <a:ext cx="171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Before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08129-D912-C5A8-9361-0E1CAEC884F4}"/>
              </a:ext>
            </a:extLst>
          </p:cNvPr>
          <p:cNvSpPr txBox="1"/>
          <p:nvPr/>
        </p:nvSpPr>
        <p:spPr>
          <a:xfrm>
            <a:off x="8334376" y="828387"/>
            <a:ext cx="171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After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78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7700A-4728-DFA8-B1E4-9DE8BF77D1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AA4054-A2F5-A5B0-D83B-9BD6F52128DC}"/>
              </a:ext>
            </a:extLst>
          </p:cNvPr>
          <p:cNvSpPr txBox="1"/>
          <p:nvPr/>
        </p:nvSpPr>
        <p:spPr>
          <a:xfrm>
            <a:off x="242888" y="328613"/>
            <a:ext cx="7000875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Calculation and Data Analysis</a:t>
            </a:r>
            <a:endParaRPr lang="en-IN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17F18-A341-2751-CB55-FB2962868178}"/>
              </a:ext>
            </a:extLst>
          </p:cNvPr>
          <p:cNvSpPr txBox="1"/>
          <p:nvPr/>
        </p:nvSpPr>
        <p:spPr>
          <a:xfrm>
            <a:off x="242888" y="1180446"/>
            <a:ext cx="11949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calculations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key metrics calculated using Excel functions such as: Total sales/revenue, average order value , count of orders , average discounts etc.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5508E-DA24-92FB-C951-0181B5209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6" y="2340056"/>
            <a:ext cx="6515100" cy="4498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162E3B-3E06-66C7-31BF-D6F6AC0E0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572" y="2340056"/>
            <a:ext cx="5260692" cy="1537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46E5A8-F9E8-D1FD-0ADA-DDA274B59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519" y="4010060"/>
            <a:ext cx="5281745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5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C9C76F-7DCB-180F-390B-98DBFA8AB4B2}"/>
              </a:ext>
            </a:extLst>
          </p:cNvPr>
          <p:cNvSpPr/>
          <p:nvPr/>
        </p:nvSpPr>
        <p:spPr>
          <a:xfrm>
            <a:off x="-985838" y="0"/>
            <a:ext cx="13177838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3631F-49DC-73B6-521A-08778AEE873E}"/>
              </a:ext>
            </a:extLst>
          </p:cNvPr>
          <p:cNvSpPr txBox="1"/>
          <p:nvPr/>
        </p:nvSpPr>
        <p:spPr>
          <a:xfrm>
            <a:off x="-814061" y="209721"/>
            <a:ext cx="5128885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and Pivot Charts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BDB4C-DFD0-0623-2D68-97BB1C7C0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5838" y="3961996"/>
            <a:ext cx="4706007" cy="2896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BE0A80-1D19-5E96-8C11-57776A31C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97" y="3952470"/>
            <a:ext cx="4315154" cy="2905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41BEC4-F49E-709A-65A3-4F579914E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979" y="3952470"/>
            <a:ext cx="4111021" cy="28960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BA384B-99AB-0A0F-1E0F-048BA8580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8847" y="942662"/>
            <a:ext cx="4553585" cy="2877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86E3E1-75A0-0A30-531C-4B617733B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700" y="942662"/>
            <a:ext cx="4195106" cy="1314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AAEE0F-F886-389D-2BFC-C44517EF3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700" y="2480505"/>
            <a:ext cx="4172279" cy="13148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815BCD-3C13-7ED5-A4B1-4E7CB005A9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573" y="924492"/>
            <a:ext cx="3643640" cy="28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4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B250-BAFB-2DBF-6975-5FBBE08A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668AB5-AEF2-A159-E650-7FF8553F4DC9}"/>
              </a:ext>
            </a:extLst>
          </p:cNvPr>
          <p:cNvSpPr/>
          <p:nvPr/>
        </p:nvSpPr>
        <p:spPr>
          <a:xfrm>
            <a:off x="0" y="0"/>
            <a:ext cx="12191999" cy="65913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A7966-06C8-106B-120E-7F2D3CF5A828}"/>
              </a:ext>
            </a:extLst>
          </p:cNvPr>
          <p:cNvSpPr txBox="1"/>
          <p:nvPr/>
        </p:nvSpPr>
        <p:spPr>
          <a:xfrm>
            <a:off x="0" y="-46315"/>
            <a:ext cx="6843712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Dashboard Overview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D45BF2-1330-6F16-9A65-9DCADB0F7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12111195" cy="594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9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EB534-8C0E-B3A2-EB02-BD24ACE89E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3A329-23E4-10FE-8243-91413103C7E5}"/>
              </a:ext>
            </a:extLst>
          </p:cNvPr>
          <p:cNvSpPr txBox="1"/>
          <p:nvPr/>
        </p:nvSpPr>
        <p:spPr>
          <a:xfrm>
            <a:off x="271463" y="185738"/>
            <a:ext cx="7743825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What-if-analysis and Goal seek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FDBE5-2512-6ECE-4F36-40FFEDFEE1DD}"/>
              </a:ext>
            </a:extLst>
          </p:cNvPr>
          <p:cNvSpPr txBox="1"/>
          <p:nvPr/>
        </p:nvSpPr>
        <p:spPr>
          <a:xfrm>
            <a:off x="271463" y="971550"/>
            <a:ext cx="11649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What-if-analysis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Created a scenario manager which shows how the changes in discount rate and sales impact total revenue.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seek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it to get desired profit by changing some factors(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AB702-8FE0-88FC-03AB-3C2722EF0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4" y="4319702"/>
            <a:ext cx="5801535" cy="2447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DDC28D-CE7D-5248-DBB2-2912E0B31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4" y="2447694"/>
            <a:ext cx="11016175" cy="1781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95D695-EFB6-DD62-413E-1D1E1E101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80" y="4573789"/>
            <a:ext cx="2833869" cy="178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3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95F97-4F17-7822-F91C-F19B08B1C139}"/>
              </a:ext>
            </a:extLst>
          </p:cNvPr>
          <p:cNvSpPr/>
          <p:nvPr/>
        </p:nvSpPr>
        <p:spPr>
          <a:xfrm>
            <a:off x="-142875" y="0"/>
            <a:ext cx="12334875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B1C4B-6655-88E6-F8B0-7B71EDAEC10A}"/>
              </a:ext>
            </a:extLst>
          </p:cNvPr>
          <p:cNvSpPr txBox="1"/>
          <p:nvPr/>
        </p:nvSpPr>
        <p:spPr>
          <a:xfrm>
            <a:off x="114300" y="200025"/>
            <a:ext cx="702945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 and Automation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1EAC9-0789-EA3D-23D2-6EF3F821237F}"/>
              </a:ext>
            </a:extLst>
          </p:cNvPr>
          <p:cNvSpPr txBox="1"/>
          <p:nvPr/>
        </p:nvSpPr>
        <p:spPr>
          <a:xfrm>
            <a:off x="114299" y="957943"/>
            <a:ext cx="1128712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 Recording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macros is an effective way to automate repetitive tasks and streamline workflows.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Created a macro that: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the columns and freeze the top row.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Highlighted headers &amp; changed specific column data types.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summary tables and charts.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Inserted a button named “run macros” for running macros.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Benefits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benefits are mentioned below: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Reduced task completion time by up to 90%.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Freed up resources that could be reallocated to other projects or tasks.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Delivered consistent outputs that improved stakeholder confidence in the analysis.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87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FA5DE3-2801-4EC0-702D-A7E016F46D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651CBB-C368-A4B2-DA07-C414ED6FF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" y="473499"/>
            <a:ext cx="4630057" cy="3254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10AAC8-8F1C-4EAD-3E0A-662D7CEA2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872" y="436769"/>
            <a:ext cx="5296639" cy="3315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7BCD0-1DFB-1F9C-4ACB-9E76AFDBD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1" y="3808054"/>
            <a:ext cx="11745284" cy="3014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FB6B41-7EE2-8B8E-B4C4-A19E473C1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197" y="1494468"/>
            <a:ext cx="1745317" cy="9784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3686D3-5339-C00B-BEC4-C8071BF58668}"/>
              </a:ext>
            </a:extLst>
          </p:cNvPr>
          <p:cNvSpPr txBox="1"/>
          <p:nvPr/>
        </p:nvSpPr>
        <p:spPr>
          <a:xfrm>
            <a:off x="1703815" y="-13062"/>
            <a:ext cx="105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Before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5F5DD3-078A-0F69-1B92-FEAC0772C14C}"/>
              </a:ext>
            </a:extLst>
          </p:cNvPr>
          <p:cNvSpPr txBox="1"/>
          <p:nvPr/>
        </p:nvSpPr>
        <p:spPr>
          <a:xfrm>
            <a:off x="5350129" y="1032803"/>
            <a:ext cx="21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Click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C46B-94D6-7D0D-5CBC-DEA6217B3DE5}"/>
              </a:ext>
            </a:extLst>
          </p:cNvPr>
          <p:cNvSpPr txBox="1"/>
          <p:nvPr/>
        </p:nvSpPr>
        <p:spPr>
          <a:xfrm>
            <a:off x="9071429" y="-24896"/>
            <a:ext cx="193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374865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59F4D9-4F69-506E-920F-F7B951803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E0950-C360-1B9D-9601-E7DDC6D3EFC6}"/>
              </a:ext>
            </a:extLst>
          </p:cNvPr>
          <p:cNvSpPr txBox="1"/>
          <p:nvPr/>
        </p:nvSpPr>
        <p:spPr>
          <a:xfrm>
            <a:off x="232229" y="217714"/>
            <a:ext cx="4920342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Recommendations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600CDC-0AB2-5060-2E6E-8904482E0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" y="969787"/>
            <a:ext cx="3810532" cy="24703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6569A9-BD24-82D1-D219-501F68B72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470" y="958648"/>
            <a:ext cx="4326085" cy="24814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F1F479-387F-F559-55FC-ED548D8CC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122" y="958648"/>
            <a:ext cx="3600953" cy="248149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90D19C-5C47-C33A-9E44-FD8C16AB14E4}"/>
              </a:ext>
            </a:extLst>
          </p:cNvPr>
          <p:cNvSpPr txBox="1"/>
          <p:nvPr/>
        </p:nvSpPr>
        <p:spPr>
          <a:xfrm>
            <a:off x="232229" y="3786189"/>
            <a:ext cx="117116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Furniture has high revenue but low profitability due to high discounts. We need to reduce these discounts by region and segment.</a:t>
            </a:r>
          </a:p>
          <a:p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 promotions for customers using standard shipping and highlight "Free standard shipping" to boost order sizes.</a:t>
            </a:r>
          </a:p>
          <a:p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contingency plans to avoid delays during high-demand periods.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63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71D67D-02BC-1060-7C29-24C49F23D36E}"/>
              </a:ext>
            </a:extLst>
          </p:cNvPr>
          <p:cNvSpPr/>
          <p:nvPr/>
        </p:nvSpPr>
        <p:spPr>
          <a:xfrm>
            <a:off x="-57150" y="-42863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B3810-7E4D-99B2-4BE6-F05B669D0756}"/>
              </a:ext>
            </a:extLst>
          </p:cNvPr>
          <p:cNvSpPr txBox="1"/>
          <p:nvPr/>
        </p:nvSpPr>
        <p:spPr>
          <a:xfrm>
            <a:off x="471488" y="295603"/>
            <a:ext cx="525780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1EF91-D419-A594-E061-F94252C97E96}"/>
              </a:ext>
            </a:extLst>
          </p:cNvPr>
          <p:cNvSpPr txBox="1"/>
          <p:nvPr/>
        </p:nvSpPr>
        <p:spPr>
          <a:xfrm>
            <a:off x="471488" y="1457325"/>
            <a:ext cx="9086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high furniture discounts to improve profitability.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"Free Standard Shipping" to boost order sizes.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contingency plans to avoid delays during peak periods.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and costs across categories for better profitability.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025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7C9A38-ABA4-7337-71C2-634E6A0D80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53374-8892-D8A6-955D-8FD64F07C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1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4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452</Words>
  <Application>Microsoft Office PowerPoint</Application>
  <PresentationFormat>Widescreen</PresentationFormat>
  <Paragraphs>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Govind Shekhawat</dc:creator>
  <cp:lastModifiedBy>Govind Shekhawat</cp:lastModifiedBy>
  <cp:revision>21</cp:revision>
  <dcterms:created xsi:type="dcterms:W3CDTF">2024-12-31T00:52:05Z</dcterms:created>
  <dcterms:modified xsi:type="dcterms:W3CDTF">2025-01-13T07:22:57Z</dcterms:modified>
</cp:coreProperties>
</file>